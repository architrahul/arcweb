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314" r:id="rId2"/>
    <p:sldId id="261" r:id="rId3"/>
    <p:sldId id="262" r:id="rId4"/>
    <p:sldId id="280" r:id="rId5"/>
    <p:sldId id="263" r:id="rId6"/>
    <p:sldId id="304" r:id="rId7"/>
    <p:sldId id="282" r:id="rId8"/>
    <p:sldId id="310" r:id="rId9"/>
    <p:sldId id="306" r:id="rId10"/>
    <p:sldId id="307" r:id="rId11"/>
    <p:sldId id="284" r:id="rId12"/>
    <p:sldId id="311" r:id="rId13"/>
    <p:sldId id="308" r:id="rId14"/>
    <p:sldId id="285" r:id="rId15"/>
    <p:sldId id="286" r:id="rId16"/>
    <p:sldId id="312" r:id="rId17"/>
    <p:sldId id="309" r:id="rId18"/>
    <p:sldId id="287" r:id="rId19"/>
    <p:sldId id="288" r:id="rId20"/>
    <p:sldId id="289" r:id="rId21"/>
    <p:sldId id="290" r:id="rId22"/>
    <p:sldId id="291" r:id="rId23"/>
    <p:sldId id="292" r:id="rId24"/>
    <p:sldId id="298" r:id="rId25"/>
    <p:sldId id="273" r:id="rId26"/>
    <p:sldId id="303" r:id="rId27"/>
    <p:sldId id="313" r:id="rId28"/>
    <p:sldId id="296" r:id="rId29"/>
    <p:sldId id="278" r:id="rId30"/>
  </p:sldIdLst>
  <p:sldSz cx="9144000" cy="6858000" type="screen4x3"/>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3224"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510F"/>
    <a:srgbClr val="33CC33"/>
    <a:srgbClr val="DE2EC9"/>
    <a:srgbClr val="1240D4"/>
    <a:srgbClr val="B60A1A"/>
    <a:srgbClr val="CA0C27"/>
    <a:srgbClr val="3C19BD"/>
    <a:srgbClr val="7A1C7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713" autoAdjust="0"/>
    <p:restoredTop sz="94660"/>
  </p:normalViewPr>
  <p:slideViewPr>
    <p:cSldViewPr>
      <p:cViewPr varScale="1">
        <p:scale>
          <a:sx n="94" d="100"/>
          <a:sy n="94" d="100"/>
        </p:scale>
        <p:origin x="-47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5" d="100"/>
          <a:sy n="75" d="100"/>
        </p:scale>
        <p:origin x="-2172" y="-108"/>
      </p:cViewPr>
      <p:guideLst>
        <p:guide orient="horz" pos="3224"/>
        <p:guide pos="2237"/>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1731"/>
          </a:xfrm>
          <a:prstGeom prst="rect">
            <a:avLst/>
          </a:prstGeom>
        </p:spPr>
        <p:txBody>
          <a:bodyPr vert="horz" lIns="99066" tIns="49533" rIns="99066" bIns="49533" rtlCol="0"/>
          <a:lstStyle>
            <a:lvl1pPr algn="l">
              <a:defRPr sz="1300"/>
            </a:lvl1pPr>
          </a:lstStyle>
          <a:p>
            <a:endParaRPr lang="en-IN"/>
          </a:p>
        </p:txBody>
      </p:sp>
      <p:sp>
        <p:nvSpPr>
          <p:cNvPr id="3" name="Date Placeholder 2"/>
          <p:cNvSpPr>
            <a:spLocks noGrp="1"/>
          </p:cNvSpPr>
          <p:nvPr>
            <p:ph type="dt" sz="quarter" idx="1"/>
          </p:nvPr>
        </p:nvSpPr>
        <p:spPr>
          <a:xfrm>
            <a:off x="4023092" y="0"/>
            <a:ext cx="3077739" cy="511731"/>
          </a:xfrm>
          <a:prstGeom prst="rect">
            <a:avLst/>
          </a:prstGeom>
        </p:spPr>
        <p:txBody>
          <a:bodyPr vert="horz" lIns="99066" tIns="49533" rIns="99066" bIns="49533" rtlCol="0"/>
          <a:lstStyle>
            <a:lvl1pPr algn="r">
              <a:defRPr sz="1300"/>
            </a:lvl1pPr>
          </a:lstStyle>
          <a:p>
            <a:fld id="{881E26E1-1DB0-4737-B81E-156F1937579E}" type="datetimeFigureOut">
              <a:rPr lang="en-US" smtClean="0"/>
              <a:pPr/>
              <a:t>12/7/2020</a:t>
            </a:fld>
            <a:endParaRPr lang="en-IN"/>
          </a:p>
        </p:txBody>
      </p:sp>
      <p:sp>
        <p:nvSpPr>
          <p:cNvPr id="4" name="Footer Placeholder 3"/>
          <p:cNvSpPr>
            <a:spLocks noGrp="1"/>
          </p:cNvSpPr>
          <p:nvPr>
            <p:ph type="ftr" sz="quarter" idx="2"/>
          </p:nvPr>
        </p:nvSpPr>
        <p:spPr>
          <a:xfrm>
            <a:off x="0" y="9721106"/>
            <a:ext cx="3077739" cy="511731"/>
          </a:xfrm>
          <a:prstGeom prst="rect">
            <a:avLst/>
          </a:prstGeom>
        </p:spPr>
        <p:txBody>
          <a:bodyPr vert="horz" lIns="99066" tIns="49533" rIns="99066" bIns="49533" rtlCol="0" anchor="b"/>
          <a:lstStyle>
            <a:lvl1pPr algn="l">
              <a:defRPr sz="1300"/>
            </a:lvl1pPr>
          </a:lstStyle>
          <a:p>
            <a:endParaRPr lang="en-IN"/>
          </a:p>
        </p:txBody>
      </p:sp>
      <p:sp>
        <p:nvSpPr>
          <p:cNvPr id="5" name="Slide Number Placeholder 4"/>
          <p:cNvSpPr>
            <a:spLocks noGrp="1"/>
          </p:cNvSpPr>
          <p:nvPr>
            <p:ph type="sldNum" sz="quarter" idx="3"/>
          </p:nvPr>
        </p:nvSpPr>
        <p:spPr>
          <a:xfrm>
            <a:off x="4023092" y="9721106"/>
            <a:ext cx="3077739" cy="511731"/>
          </a:xfrm>
          <a:prstGeom prst="rect">
            <a:avLst/>
          </a:prstGeom>
        </p:spPr>
        <p:txBody>
          <a:bodyPr vert="horz" lIns="99066" tIns="49533" rIns="99066" bIns="49533" rtlCol="0" anchor="b"/>
          <a:lstStyle>
            <a:lvl1pPr algn="r">
              <a:defRPr sz="1300"/>
            </a:lvl1pPr>
          </a:lstStyle>
          <a:p>
            <a:fld id="{97F55232-DE23-4A90-A10E-36861113E152}" type="slidenum">
              <a:rPr lang="en-IN" smtClean="0"/>
              <a:pPr/>
              <a:t>‹#›</a:t>
            </a:fld>
            <a:endParaRPr lang="en-IN"/>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1731"/>
          </a:xfrm>
          <a:prstGeom prst="rect">
            <a:avLst/>
          </a:prstGeom>
        </p:spPr>
        <p:txBody>
          <a:bodyPr vert="horz" lIns="99066" tIns="49533" rIns="99066" bIns="49533" rtlCol="0"/>
          <a:lstStyle>
            <a:lvl1pPr algn="l">
              <a:defRPr sz="1300"/>
            </a:lvl1pPr>
          </a:lstStyle>
          <a:p>
            <a:endParaRPr lang="en-IN" dirty="0"/>
          </a:p>
        </p:txBody>
      </p:sp>
      <p:sp>
        <p:nvSpPr>
          <p:cNvPr id="3" name="Date Placeholder 2"/>
          <p:cNvSpPr>
            <a:spLocks noGrp="1"/>
          </p:cNvSpPr>
          <p:nvPr>
            <p:ph type="dt" idx="1"/>
          </p:nvPr>
        </p:nvSpPr>
        <p:spPr>
          <a:xfrm>
            <a:off x="4023092" y="0"/>
            <a:ext cx="3077739" cy="511731"/>
          </a:xfrm>
          <a:prstGeom prst="rect">
            <a:avLst/>
          </a:prstGeom>
        </p:spPr>
        <p:txBody>
          <a:bodyPr vert="horz" lIns="99066" tIns="49533" rIns="99066" bIns="49533" rtlCol="0"/>
          <a:lstStyle>
            <a:lvl1pPr algn="r">
              <a:defRPr sz="1300"/>
            </a:lvl1pPr>
          </a:lstStyle>
          <a:p>
            <a:fld id="{D7075E4D-72F2-4CA0-8468-C7885E5FA979}" type="datetimeFigureOut">
              <a:rPr lang="en-US" smtClean="0"/>
              <a:pPr/>
              <a:t>12/7/2020</a:t>
            </a:fld>
            <a:endParaRPr lang="en-IN" dirty="0"/>
          </a:p>
        </p:txBody>
      </p:sp>
      <p:sp>
        <p:nvSpPr>
          <p:cNvPr id="4" name="Slide Image Placeholder 3"/>
          <p:cNvSpPr>
            <a:spLocks noGrp="1" noRot="1" noChangeAspect="1"/>
          </p:cNvSpPr>
          <p:nvPr>
            <p:ph type="sldImg" idx="2"/>
          </p:nvPr>
        </p:nvSpPr>
        <p:spPr>
          <a:xfrm>
            <a:off x="993775" y="768350"/>
            <a:ext cx="5114925" cy="3836988"/>
          </a:xfrm>
          <a:prstGeom prst="rect">
            <a:avLst/>
          </a:prstGeom>
          <a:noFill/>
          <a:ln w="12700">
            <a:solidFill>
              <a:prstClr val="black"/>
            </a:solidFill>
          </a:ln>
        </p:spPr>
        <p:txBody>
          <a:bodyPr vert="horz" lIns="99066" tIns="49533" rIns="99066" bIns="49533" rtlCol="0" anchor="ctr"/>
          <a:lstStyle/>
          <a:p>
            <a:endParaRPr lang="en-IN" dirty="0"/>
          </a:p>
        </p:txBody>
      </p:sp>
      <p:sp>
        <p:nvSpPr>
          <p:cNvPr id="5" name="Notes Placeholder 4"/>
          <p:cNvSpPr>
            <a:spLocks noGrp="1"/>
          </p:cNvSpPr>
          <p:nvPr>
            <p:ph type="body" sz="quarter" idx="3"/>
          </p:nvPr>
        </p:nvSpPr>
        <p:spPr>
          <a:xfrm>
            <a:off x="710248" y="4861441"/>
            <a:ext cx="5681980" cy="4605576"/>
          </a:xfrm>
          <a:prstGeom prst="rect">
            <a:avLst/>
          </a:prstGeom>
        </p:spPr>
        <p:txBody>
          <a:bodyPr vert="horz" lIns="99066" tIns="49533" rIns="99066" bIns="4953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21106"/>
            <a:ext cx="3077739" cy="511731"/>
          </a:xfrm>
          <a:prstGeom prst="rect">
            <a:avLst/>
          </a:prstGeom>
        </p:spPr>
        <p:txBody>
          <a:bodyPr vert="horz" lIns="99066" tIns="49533" rIns="99066" bIns="49533" rtlCol="0" anchor="b"/>
          <a:lstStyle>
            <a:lvl1pPr algn="l">
              <a:defRPr sz="1300"/>
            </a:lvl1pPr>
          </a:lstStyle>
          <a:p>
            <a:endParaRPr lang="en-IN" dirty="0"/>
          </a:p>
        </p:txBody>
      </p:sp>
      <p:sp>
        <p:nvSpPr>
          <p:cNvPr id="7" name="Slide Number Placeholder 6"/>
          <p:cNvSpPr>
            <a:spLocks noGrp="1"/>
          </p:cNvSpPr>
          <p:nvPr>
            <p:ph type="sldNum" sz="quarter" idx="5"/>
          </p:nvPr>
        </p:nvSpPr>
        <p:spPr>
          <a:xfrm>
            <a:off x="4023092" y="9721106"/>
            <a:ext cx="3077739" cy="511731"/>
          </a:xfrm>
          <a:prstGeom prst="rect">
            <a:avLst/>
          </a:prstGeom>
        </p:spPr>
        <p:txBody>
          <a:bodyPr vert="horz" lIns="99066" tIns="49533" rIns="99066" bIns="49533" rtlCol="0" anchor="b"/>
          <a:lstStyle>
            <a:lvl1pPr algn="r">
              <a:defRPr sz="1300"/>
            </a:lvl1pPr>
          </a:lstStyle>
          <a:p>
            <a:fld id="{D0CEA011-B3FF-4B9D-8788-B9EC8488EA14}" type="slidenum">
              <a:rPr lang="en-IN" smtClean="0"/>
              <a:pPr/>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D0CEA011-B3FF-4B9D-8788-B9EC8488EA14}" type="slidenum">
              <a:rPr lang="en-IN" smtClean="0"/>
              <a:pPr/>
              <a:t>1</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D0CEA011-B3FF-4B9D-8788-B9EC8488EA14}" type="slidenum">
              <a:rPr lang="en-IN" smtClean="0"/>
              <a:pPr/>
              <a:t>24</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16D8F02-058E-4528-A19B-A46A5E56B9E7}" type="datetimeFigureOut">
              <a:rPr lang="en-US" smtClean="0"/>
              <a:pPr/>
              <a:t>12/7/2020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9814F8-28E7-4E60-A8DE-33566FC6DC24}" type="slidenum">
              <a:rPr lang="en-US" smtClean="0"/>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6D8F02-058E-4528-A19B-A46A5E56B9E7}" type="datetimeFigureOut">
              <a:rPr lang="en-US" smtClean="0"/>
              <a:pPr/>
              <a:t>12/7/2020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814F8-28E7-4E60-A8DE-33566FC6DC24}"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qkw1uaO0VT4" TargetMode="Externa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www.architpphcup.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ges for PPT_Page_01.jpg"/>
          <p:cNvPicPr>
            <a:picLocks noChangeAspect="1"/>
          </p:cNvPicPr>
          <p:nvPr/>
        </p:nvPicPr>
        <p:blipFill>
          <a:blip r:embed="rId3"/>
          <a:stretch>
            <a:fillRect/>
          </a:stretch>
        </p:blipFill>
        <p:spPr>
          <a:xfrm>
            <a:off x="0" y="16015"/>
            <a:ext cx="9144000" cy="6825970"/>
          </a:xfrm>
          <a:prstGeom prst="rect">
            <a:avLst/>
          </a:prstGeom>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02.jpg"/>
          <p:cNvPicPr>
            <a:picLocks noChangeAspect="1"/>
          </p:cNvPicPr>
          <p:nvPr/>
        </p:nvPicPr>
        <p:blipFill>
          <a:blip r:embed="rId2" cstate="print"/>
          <a:stretch>
            <a:fillRect/>
          </a:stretch>
        </p:blipFill>
        <p:spPr>
          <a:xfrm>
            <a:off x="0" y="15240"/>
            <a:ext cx="9144000" cy="6827520"/>
          </a:xfrm>
          <a:prstGeom prst="rect">
            <a:avLst/>
          </a:prstGeom>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03.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553200"/>
          </a:xfrm>
        </p:spPr>
        <p:txBody>
          <a:bodyPr>
            <a:normAutofit fontScale="90000"/>
          </a:bodyPr>
          <a:lstStyle/>
          <a:p>
            <a:pPr algn="l"/>
            <a:r>
              <a:rPr lang="en-US" sz="3600" b="1" dirty="0"/>
              <a:t/>
            </a:r>
            <a:br>
              <a:rPr lang="en-US" sz="3600" b="1" dirty="0"/>
            </a:br>
            <a:r>
              <a:rPr lang="en-US" sz="3600" b="1" dirty="0"/>
              <a:t/>
            </a:r>
            <a:br>
              <a:rPr lang="en-US" sz="3600" b="1" dirty="0"/>
            </a:br>
            <a:r>
              <a:rPr lang="en-US" sz="3600" b="1" dirty="0"/>
              <a:t/>
            </a:r>
            <a:br>
              <a:rPr lang="en-US" sz="3600" b="1" dirty="0"/>
            </a:br>
            <a:r>
              <a:rPr lang="en-US" sz="3600" b="1" dirty="0"/>
              <a:t/>
            </a:r>
            <a:br>
              <a:rPr lang="en-US" sz="3600" b="1" dirty="0"/>
            </a:br>
            <a:r>
              <a:rPr lang="en-US" sz="3600" b="1" dirty="0"/>
              <a:t/>
            </a:r>
            <a:br>
              <a:rPr lang="en-US" sz="3600" b="1" dirty="0"/>
            </a:br>
            <a:r>
              <a:rPr lang="en-US" sz="3600" b="1" dirty="0"/>
              <a:t/>
            </a:r>
            <a:br>
              <a:rPr lang="en-US" sz="3600" b="1" dirty="0"/>
            </a:br>
            <a:r>
              <a:rPr lang="en-US" sz="3600" b="1" dirty="0"/>
              <a:t/>
            </a:r>
            <a:br>
              <a:rPr lang="en-US" sz="3600" b="1" dirty="0"/>
            </a:br>
            <a:r>
              <a:rPr lang="en-US" sz="3100" dirty="0">
                <a:latin typeface="Arial Black" pitchFamily="34" charset="0"/>
              </a:rPr>
              <a:t>EMPEROR SHAHAJAN MADE TAJ MAHAJ IN THE MEMORY OF HIS BELOVED WIFE MUMTAZ, WHO IRONICALLY DIED OF PPH DURING HER 14</a:t>
            </a:r>
            <a:r>
              <a:rPr lang="en-US" sz="3100" baseline="30000" dirty="0">
                <a:latin typeface="Arial Black" pitchFamily="34" charset="0"/>
              </a:rPr>
              <a:t>TH</a:t>
            </a:r>
            <a:r>
              <a:rPr lang="en-US" sz="3100" dirty="0">
                <a:latin typeface="Arial Black" pitchFamily="34" charset="0"/>
              </a:rPr>
              <a:t> CHILDBIRTH IN 1630. WE ALSO LOST BELOVED ACTRESS SMITA PATIL IN MODERN ERA DUE TO PPH.</a:t>
            </a:r>
            <a:r>
              <a:rPr lang="en-IN" sz="3600" dirty="0">
                <a:latin typeface="Arial Black" pitchFamily="34" charset="0"/>
              </a:rPr>
              <a:t/>
            </a:r>
            <a:br>
              <a:rPr lang="en-IN" sz="3600" dirty="0">
                <a:latin typeface="Arial Black" pitchFamily="34" charset="0"/>
              </a:rPr>
            </a:br>
            <a:r>
              <a:rPr lang="en-US" dirty="0"/>
              <a:t/>
            </a:r>
            <a:br>
              <a:rPr lang="en-US" dirty="0"/>
            </a:br>
            <a:endParaRPr lang="en-IN" dirty="0"/>
          </a:p>
        </p:txBody>
      </p:sp>
      <p:pic>
        <p:nvPicPr>
          <p:cNvPr id="5" name="Picture 4" descr="mumtaz.jpg"/>
          <p:cNvPicPr>
            <a:picLocks noChangeAspect="1"/>
          </p:cNvPicPr>
          <p:nvPr/>
        </p:nvPicPr>
        <p:blipFill>
          <a:blip r:embed="rId2"/>
          <a:stretch>
            <a:fillRect/>
          </a:stretch>
        </p:blipFill>
        <p:spPr>
          <a:xfrm>
            <a:off x="2743200" y="0"/>
            <a:ext cx="3533775" cy="2646920"/>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05.jpg"/>
          <p:cNvPicPr>
            <a:picLocks noChangeAspect="1"/>
          </p:cNvPicPr>
          <p:nvPr/>
        </p:nvPicPr>
        <p:blipFill>
          <a:blip r:embed="rId2"/>
          <a:stretch>
            <a:fillRect/>
          </a:stretch>
        </p:blipFill>
        <p:spPr>
          <a:xfrm>
            <a:off x="6176" y="0"/>
            <a:ext cx="9131648" cy="6858000"/>
          </a:xfrm>
          <a:prstGeom prst="rect">
            <a:avLst/>
          </a:prstGeom>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PPH COLLAGE.JPG"/>
          <p:cNvPicPr>
            <a:picLocks noGrp="1" noChangeAspect="1"/>
          </p:cNvPicPr>
          <p:nvPr>
            <p:ph idx="1"/>
          </p:nvPr>
        </p:nvPicPr>
        <p:blipFill>
          <a:blip r:embed="rId2"/>
          <a:stretch>
            <a:fillRect/>
          </a:stretch>
        </p:blipFill>
        <p:spPr>
          <a:xfrm>
            <a:off x="533401" y="304800"/>
            <a:ext cx="7924800" cy="6248400"/>
          </a:xfrm>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07.jpg"/>
          <p:cNvPicPr>
            <a:picLocks noChangeAspect="1"/>
          </p:cNvPicPr>
          <p:nvPr/>
        </p:nvPicPr>
        <p:blipFill>
          <a:blip r:embed="rId2" cstate="print"/>
          <a:stretch>
            <a:fillRect/>
          </a:stretch>
        </p:blipFill>
        <p:spPr>
          <a:xfrm>
            <a:off x="0" y="15240"/>
            <a:ext cx="9144000" cy="6827520"/>
          </a:xfrm>
          <a:prstGeom prst="rect">
            <a:avLst/>
          </a:prstGeom>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IN" sz="4800" dirty="0">
                <a:solidFill>
                  <a:srgbClr val="002060"/>
                </a:solidFill>
                <a:latin typeface="Arial Black" pitchFamily="34" charset="0"/>
              </a:rPr>
              <a:t>THE IRONY IS THAT NOT A SINGLE METHOD HAS PROVED TO BE THE BEST AND ACCURATE.</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ges for PPT_Page_05.jpg"/>
          <p:cNvPicPr>
            <a:picLocks noChangeAspect="1"/>
          </p:cNvPicPr>
          <p:nvPr/>
        </p:nvPicPr>
        <p:blipFill>
          <a:blip r:embed="rId2"/>
          <a:stretch>
            <a:fillRect/>
          </a:stretch>
        </p:blipFill>
        <p:spPr>
          <a:xfrm>
            <a:off x="0" y="16565"/>
            <a:ext cx="9144000" cy="6824870"/>
          </a:xfrm>
          <a:prstGeom prst="rect">
            <a:avLst/>
          </a:prstGeom>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ges for PPT_Page_06.jpg"/>
          <p:cNvPicPr>
            <a:picLocks noChangeAspect="1"/>
          </p:cNvPicPr>
          <p:nvPr/>
        </p:nvPicPr>
        <p:blipFill>
          <a:blip r:embed="rId2"/>
          <a:stretch>
            <a:fillRect/>
          </a:stretch>
        </p:blipFill>
        <p:spPr>
          <a:xfrm>
            <a:off x="0" y="16565"/>
            <a:ext cx="9144000" cy="6824870"/>
          </a:xfrm>
          <a:prstGeom prst="rect">
            <a:avLst/>
          </a:prstGeom>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a:buNone/>
            </a:pPr>
            <a:r>
              <a:rPr lang="en-IN" sz="3900" dirty="0">
                <a:latin typeface="Arial Black" pitchFamily="34" charset="0"/>
              </a:rPr>
              <a:t>MY REMEDIAL NOVEL INVENTION IS ABOUT EXACT AND REAL TIME MEASUREMENT OF THE BLOOD LOSS AFTER DELIVERY, BY A SIMPLE DEVICE –</a:t>
            </a:r>
          </a:p>
          <a:p>
            <a:pPr algn="ctr">
              <a:buNone/>
            </a:pPr>
            <a:r>
              <a:rPr lang="en-IN" sz="3900" dirty="0">
                <a:solidFill>
                  <a:srgbClr val="CA0C27"/>
                </a:solidFill>
                <a:latin typeface="Arial Black" pitchFamily="34" charset="0"/>
              </a:rPr>
              <a:t>“POST PARTUM CUP”</a:t>
            </a:r>
            <a:r>
              <a:rPr lang="en-IN" sz="3900" dirty="0">
                <a:latin typeface="Arial Black" pitchFamily="34" charset="0"/>
              </a:rPr>
              <a:t> </a:t>
            </a:r>
          </a:p>
          <a:p>
            <a:endParaRPr lang="en-IN"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r>
              <a:rPr lang="en-IN" sz="4000" dirty="0">
                <a:latin typeface="Arial Black" pitchFamily="34" charset="0"/>
              </a:rPr>
              <a:t>IT IS A SILICONE CUP, SIMPLE, EASY TO USE</a:t>
            </a:r>
            <a:r>
              <a:rPr lang="en-IN" dirty="0"/>
              <a:t>.</a:t>
            </a:r>
          </a:p>
          <a:p>
            <a:endParaRPr lang="en-IN"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ges for PPT_Page_07.jpg"/>
          <p:cNvPicPr>
            <a:picLocks noChangeAspect="1"/>
          </p:cNvPicPr>
          <p:nvPr/>
        </p:nvPicPr>
        <p:blipFill>
          <a:blip r:embed="rId2" cstate="print"/>
          <a:stretch>
            <a:fillRect/>
          </a:stretch>
        </p:blipFill>
        <p:spPr>
          <a:xfrm>
            <a:off x="0" y="15240"/>
            <a:ext cx="9144000" cy="6827520"/>
          </a:xfrm>
          <a:prstGeom prst="rect">
            <a:avLst/>
          </a:prstGeom>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14.jpg"/>
          <p:cNvPicPr>
            <a:picLocks noChangeAspect="1"/>
          </p:cNvPicPr>
          <p:nvPr/>
        </p:nvPicPr>
        <p:blipFill>
          <a:blip r:embed="rId2" cstate="print"/>
          <a:stretch>
            <a:fillRect/>
          </a:stretch>
        </p:blipFill>
        <p:spPr>
          <a:xfrm>
            <a:off x="0" y="15240"/>
            <a:ext cx="9144000" cy="6842760"/>
          </a:xfrm>
          <a:prstGeom prst="rect">
            <a:avLst/>
          </a:prstGeom>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438400"/>
          </a:xfrm>
        </p:spPr>
        <p:txBody>
          <a:bodyPr>
            <a:noAutofit/>
          </a:bodyPr>
          <a:lstStyle/>
          <a:p>
            <a:pPr algn="ctr">
              <a:buNone/>
            </a:pPr>
            <a:r>
              <a:rPr lang="en-IN" sz="4000" dirty="0">
                <a:latin typeface="Arial Black" pitchFamily="34" charset="0"/>
              </a:rPr>
              <a:t>IT IS BEING </a:t>
            </a:r>
            <a:r>
              <a:rPr lang="en-IN" sz="4000" dirty="0">
                <a:solidFill>
                  <a:srgbClr val="C00000"/>
                </a:solidFill>
                <a:latin typeface="Arial Black" pitchFamily="34" charset="0"/>
              </a:rPr>
              <a:t>USED</a:t>
            </a:r>
            <a:r>
              <a:rPr lang="en-IN" sz="4000" dirty="0">
                <a:latin typeface="Arial Black" pitchFamily="34" charset="0"/>
              </a:rPr>
              <a:t> BY MATERNITY HOSPITALS &amp; Medical Colleges </a:t>
            </a:r>
            <a:r>
              <a:rPr lang="en-IN" sz="4000" dirty="0">
                <a:solidFill>
                  <a:srgbClr val="C00000"/>
                </a:solidFill>
                <a:latin typeface="Arial Black" pitchFamily="34" charset="0"/>
              </a:rPr>
              <a:t>SUCCESSFULLY</a:t>
            </a:r>
            <a:r>
              <a:rPr lang="en-IN" sz="4000" dirty="0">
                <a:latin typeface="Arial Black" pitchFamily="34" charset="0"/>
              </a:rPr>
              <a:t>. </a:t>
            </a:r>
          </a:p>
          <a:p>
            <a:pPr>
              <a:buNone/>
            </a:pPr>
            <a:r>
              <a:rPr lang="en-IN" sz="4000" dirty="0">
                <a:latin typeface="Arial Black" pitchFamily="34" charset="0"/>
              </a:rPr>
              <a:t> </a:t>
            </a:r>
          </a:p>
          <a:p>
            <a:endParaRPr lang="en-IN" sz="4000"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5 to 16.jpg"/>
          <p:cNvPicPr>
            <a:picLocks noChangeAspect="1"/>
          </p:cNvPicPr>
          <p:nvPr/>
        </p:nvPicPr>
        <p:blipFill>
          <a:blip r:embed="rId2" cstate="print"/>
          <a:stretch>
            <a:fillRect/>
          </a:stretch>
        </p:blipFill>
        <p:spPr>
          <a:xfrm>
            <a:off x="0" y="15240"/>
            <a:ext cx="9144000" cy="6827520"/>
          </a:xfrm>
          <a:prstGeom prst="rect">
            <a:avLst/>
          </a:prstGeom>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ges for PPT_Page_08.jpg"/>
          <p:cNvPicPr>
            <a:picLocks noChangeAspect="1"/>
          </p:cNvPicPr>
          <p:nvPr/>
        </p:nvPicPr>
        <p:blipFill>
          <a:blip r:embed="rId2"/>
          <a:stretch>
            <a:fillRect/>
          </a:stretch>
        </p:blipFill>
        <p:spPr>
          <a:xfrm>
            <a:off x="0" y="16507"/>
            <a:ext cx="9144000" cy="6824985"/>
          </a:xfrm>
          <a:prstGeom prst="rect">
            <a:avLst/>
          </a:prstGeom>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solidFill>
                  <a:srgbClr val="002060"/>
                </a:solidFill>
                <a:latin typeface="Arial Black" pitchFamily="34" charset="0"/>
              </a:rPr>
              <a:t>ITS ADVANTAGES ARE CLEARLY </a:t>
            </a:r>
            <a:r>
              <a:rPr lang="en-IN" dirty="0">
                <a:solidFill>
                  <a:srgbClr val="C00000"/>
                </a:solidFill>
                <a:latin typeface="Arial Black" pitchFamily="34" charset="0"/>
              </a:rPr>
              <a:t>ACKNOWLEDGED</a:t>
            </a:r>
            <a:r>
              <a:rPr lang="en-IN" dirty="0">
                <a:solidFill>
                  <a:srgbClr val="002060"/>
                </a:solidFill>
                <a:latin typeface="Arial Black" pitchFamily="34" charset="0"/>
              </a:rPr>
              <a:t> BY </a:t>
            </a:r>
            <a:r>
              <a:rPr lang="en-IN" dirty="0">
                <a:solidFill>
                  <a:srgbClr val="C00000"/>
                </a:solidFill>
                <a:latin typeface="Arial Black" pitchFamily="34" charset="0"/>
              </a:rPr>
              <a:t>USERS</a:t>
            </a:r>
            <a:r>
              <a:rPr lang="en-IN" dirty="0">
                <a:solidFill>
                  <a:srgbClr val="002060"/>
                </a:solidFill>
                <a:latin typeface="Arial Black" pitchFamily="34" charset="0"/>
              </a:rPr>
              <a:t> AND </a:t>
            </a:r>
            <a:r>
              <a:rPr lang="en-IN" dirty="0">
                <a:solidFill>
                  <a:srgbClr val="12510F"/>
                </a:solidFill>
                <a:latin typeface="Arial Black" pitchFamily="34" charset="0"/>
              </a:rPr>
              <a:t>ENDORSED</a:t>
            </a:r>
            <a:r>
              <a:rPr lang="en-IN" dirty="0">
                <a:solidFill>
                  <a:srgbClr val="002060"/>
                </a:solidFill>
                <a:latin typeface="Arial Black" pitchFamily="34" charset="0"/>
              </a:rPr>
              <a:t> BY </a:t>
            </a:r>
            <a:r>
              <a:rPr lang="en-IN" dirty="0">
                <a:solidFill>
                  <a:srgbClr val="12510F"/>
                </a:solidFill>
                <a:latin typeface="Arial Black" pitchFamily="34" charset="0"/>
              </a:rPr>
              <a:t>EXPERTS</a:t>
            </a:r>
            <a:r>
              <a:rPr lang="en-IN" dirty="0">
                <a:solidFill>
                  <a:srgbClr val="002060"/>
                </a:solidFill>
                <a:latin typeface="Arial Black" pitchFamily="34" charset="0"/>
              </a:rPr>
              <a:t>.</a:t>
            </a:r>
          </a:p>
          <a:p>
            <a:r>
              <a:rPr lang="en-IN" dirty="0">
                <a:solidFill>
                  <a:srgbClr val="002060"/>
                </a:solidFill>
                <a:latin typeface="Arial Black" pitchFamily="34" charset="0"/>
              </a:rPr>
              <a:t>I HOLD THE </a:t>
            </a:r>
            <a:r>
              <a:rPr lang="en-IN" dirty="0">
                <a:solidFill>
                  <a:schemeClr val="accent6">
                    <a:lumMod val="75000"/>
                  </a:schemeClr>
                </a:solidFill>
                <a:latin typeface="Arial Black" pitchFamily="34" charset="0"/>
              </a:rPr>
              <a:t>IP (INTELLECTUAL PROPERTY) </a:t>
            </a:r>
            <a:r>
              <a:rPr lang="en-IN" dirty="0">
                <a:solidFill>
                  <a:srgbClr val="002060"/>
                </a:solidFill>
                <a:latin typeface="Arial Black" pitchFamily="34" charset="0"/>
              </a:rPr>
              <a:t>RIGHTS OF MY PRODUCT.</a:t>
            </a:r>
          </a:p>
          <a:p>
            <a:endParaRPr lang="en-IN"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667000"/>
          </a:xfrm>
        </p:spPr>
        <p:txBody>
          <a:bodyPr/>
          <a:lstStyle/>
          <a:p>
            <a:pPr>
              <a:buNone/>
            </a:pPr>
            <a:r>
              <a:rPr lang="en-IN" dirty="0">
                <a:latin typeface="Arial Black" pitchFamily="34" charset="0"/>
              </a:rPr>
              <a:t>THE HEALTH CARE PROVIDERS, OBSTETRICIANS; AROUND THE WORLD, PUBLIC HOSPITALS ARE ITS </a:t>
            </a:r>
            <a:r>
              <a:rPr lang="en-IN" dirty="0">
                <a:solidFill>
                  <a:srgbClr val="C00000"/>
                </a:solidFill>
                <a:latin typeface="Arial Black" pitchFamily="34" charset="0"/>
              </a:rPr>
              <a:t>END USERS</a:t>
            </a:r>
            <a:r>
              <a:rPr lang="en-IN" dirty="0">
                <a:latin typeface="Arial Black" pitchFamily="34" charset="0"/>
              </a:rPr>
              <a:t>.</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667000"/>
          </a:xfrm>
        </p:spPr>
        <p:txBody>
          <a:bodyPr/>
          <a:lstStyle/>
          <a:p>
            <a:pPr>
              <a:buNone/>
            </a:pPr>
            <a:r>
              <a:rPr lang="en-IN" dirty="0">
                <a:latin typeface="Arial Black" pitchFamily="34" charset="0"/>
              </a:rPr>
              <a:t>IT HAS A </a:t>
            </a:r>
            <a:r>
              <a:rPr lang="en-IN" dirty="0">
                <a:solidFill>
                  <a:srgbClr val="C00000"/>
                </a:solidFill>
                <a:latin typeface="Arial Black" pitchFamily="34" charset="0"/>
              </a:rPr>
              <a:t>HUGE</a:t>
            </a:r>
            <a:r>
              <a:rPr lang="en-IN" dirty="0">
                <a:latin typeface="Arial Black" pitchFamily="34" charset="0"/>
              </a:rPr>
              <a:t> </a:t>
            </a:r>
            <a:r>
              <a:rPr lang="en-IN" dirty="0">
                <a:solidFill>
                  <a:srgbClr val="C00000"/>
                </a:solidFill>
                <a:latin typeface="Arial Black" pitchFamily="34" charset="0"/>
              </a:rPr>
              <a:t>MARKET</a:t>
            </a:r>
            <a:r>
              <a:rPr lang="en-IN" dirty="0">
                <a:latin typeface="Arial Black" pitchFamily="34" charset="0"/>
              </a:rPr>
              <a:t> </a:t>
            </a:r>
            <a:r>
              <a:rPr lang="en-IN" dirty="0">
                <a:solidFill>
                  <a:srgbClr val="C00000"/>
                </a:solidFill>
                <a:latin typeface="Arial Black" pitchFamily="34" charset="0"/>
              </a:rPr>
              <a:t>POTENTIAL</a:t>
            </a:r>
            <a:r>
              <a:rPr lang="en-IN" dirty="0">
                <a:latin typeface="Arial Black" pitchFamily="34" charset="0"/>
              </a:rPr>
              <a:t> WITH </a:t>
            </a:r>
            <a:r>
              <a:rPr lang="en-IN" dirty="0">
                <a:solidFill>
                  <a:srgbClr val="0070C0"/>
                </a:solidFill>
                <a:latin typeface="Arial Black" pitchFamily="34" charset="0"/>
              </a:rPr>
              <a:t>NO</a:t>
            </a:r>
            <a:r>
              <a:rPr lang="en-IN" dirty="0">
                <a:latin typeface="Arial Black" pitchFamily="34" charset="0"/>
              </a:rPr>
              <a:t> </a:t>
            </a:r>
            <a:r>
              <a:rPr lang="en-IN" dirty="0">
                <a:solidFill>
                  <a:srgbClr val="0070C0"/>
                </a:solidFill>
                <a:latin typeface="Arial Black" pitchFamily="34" charset="0"/>
              </a:rPr>
              <a:t>COMPETITORS</a:t>
            </a:r>
            <a:r>
              <a:rPr lang="en-IN" dirty="0">
                <a:latin typeface="Arial Black" pitchFamily="34" charset="0"/>
              </a:rPr>
              <a:t> AT PAR.</a:t>
            </a:r>
          </a:p>
          <a:p>
            <a:endParaRPr lang="en-IN"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a:latin typeface="Arial Black" pitchFamily="34" charset="0"/>
              </a:rPr>
              <a:t>I PRAY TO INCORPORATE THIS PPH CUP IN MATERNAL HEALTH SCHEMES OF GOVT. OF INDIA, WHO AND UNICEF.</a:t>
            </a:r>
          </a:p>
          <a:p>
            <a:endParaRPr lang="en-IN"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971800"/>
          </a:xfrm>
        </p:spPr>
        <p:txBody>
          <a:bodyPr/>
          <a:lstStyle/>
          <a:p>
            <a:pPr>
              <a:buNone/>
            </a:pPr>
            <a:r>
              <a:rPr lang="en-IN" dirty="0">
                <a:latin typeface="Arial Black" pitchFamily="34" charset="0"/>
              </a:rPr>
              <a:t>HENCEFORTH IF YOU COME ACROSS DEATH OF MOTHER DUE TO PPH, YOU SHOULD REMEMBER  </a:t>
            </a:r>
          </a:p>
          <a:p>
            <a:pPr>
              <a:buNone/>
            </a:pPr>
            <a:r>
              <a:rPr lang="en-IN" dirty="0">
                <a:latin typeface="Arial Black" pitchFamily="34" charset="0"/>
              </a:rPr>
              <a:t> “ARCHIT PPH CUP”.</a:t>
            </a:r>
          </a:p>
          <a:p>
            <a:endParaRPr lang="en-IN" dirty="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1828800"/>
          </a:xfrm>
        </p:spPr>
        <p:txBody>
          <a:bodyPr/>
          <a:lstStyle/>
          <a:p>
            <a:r>
              <a:rPr lang="en-IN" dirty="0">
                <a:latin typeface="Arial Black" pitchFamily="34" charset="0"/>
              </a:rPr>
              <a:t>LET’S SEE HOW IT WORKS…….</a:t>
            </a:r>
          </a:p>
          <a:p>
            <a:r>
              <a:rPr lang="en-IN" dirty="0">
                <a:latin typeface="Arial Black" pitchFamily="34" charset="0"/>
              </a:rPr>
              <a:t>Please visit the pitch video link…</a:t>
            </a:r>
          </a:p>
        </p:txBody>
      </p:sp>
      <p:sp>
        <p:nvSpPr>
          <p:cNvPr id="4" name="Rectangle 3"/>
          <p:cNvSpPr/>
          <p:nvPr/>
        </p:nvSpPr>
        <p:spPr>
          <a:xfrm>
            <a:off x="914400" y="4038600"/>
            <a:ext cx="6705600" cy="461665"/>
          </a:xfrm>
          <a:prstGeom prst="rect">
            <a:avLst/>
          </a:prstGeom>
        </p:spPr>
        <p:txBody>
          <a:bodyPr wrap="square">
            <a:spAutoFit/>
          </a:bodyPr>
          <a:lstStyle/>
          <a:p>
            <a:r>
              <a:rPr lang="en-US" sz="2400" dirty="0" smtClean="0">
                <a:hlinkClick r:id="rId3">
                  <a:snd r:embed="rId2" name="arrow.wav" builtIn="1"/>
                </a:hlinkClick>
              </a:rPr>
              <a:t>https://</a:t>
            </a:r>
            <a:r>
              <a:rPr lang="en-US" sz="2400" dirty="0" smtClean="0">
                <a:hlinkClick r:id="rId3">
                  <a:snd r:embed="rId2" name="arrow.wav" builtIn="1"/>
                </a:hlinkClick>
                <a:hlinkMouseOver r:id="rId3" action="ppaction://program"/>
              </a:rPr>
              <a:t>www.youtube.com/watch?v=qkw1uaO0VT4</a:t>
            </a:r>
            <a:endParaRPr lang="en-US" sz="2400" dirty="0"/>
          </a:p>
        </p:txBody>
      </p:sp>
      <p:pic>
        <p:nvPicPr>
          <p:cNvPr id="6" name="Picture 2"/>
          <p:cNvPicPr>
            <a:picLocks noChangeAspect="1" noChangeArrowheads="1"/>
          </p:cNvPicPr>
          <p:nvPr/>
        </p:nvPicPr>
        <p:blipFill>
          <a:blip r:embed="rId4"/>
          <a:srcRect/>
          <a:stretch>
            <a:fillRect/>
          </a:stretch>
        </p:blipFill>
        <p:spPr bwMode="auto">
          <a:xfrm>
            <a:off x="2819400" y="2971800"/>
            <a:ext cx="3378200" cy="9017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NEWS PAPER COLLAGE.JPG"/>
          <p:cNvPicPr>
            <a:picLocks noGrp="1" noChangeAspect="1"/>
          </p:cNvPicPr>
          <p:nvPr>
            <p:ph idx="1"/>
          </p:nvPr>
        </p:nvPicPr>
        <p:blipFill>
          <a:blip r:embed="rId3"/>
          <a:stretch>
            <a:fillRect/>
          </a:stretch>
        </p:blipFill>
        <p:spPr>
          <a:xfrm>
            <a:off x="1143001" y="0"/>
            <a:ext cx="6934200" cy="6705600"/>
          </a:xfrm>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6" name="Picture 5" descr="p-4.jpg"/>
          <p:cNvPicPr>
            <a:picLocks noChangeAspect="1"/>
          </p:cNvPicPr>
          <p:nvPr/>
        </p:nvPicPr>
        <p:blipFill>
          <a:blip r:embed="rId2" cstate="print"/>
          <a:stretch>
            <a:fillRect/>
          </a:stretch>
        </p:blipFill>
        <p:spPr>
          <a:xfrm>
            <a:off x="0" y="15240"/>
            <a:ext cx="9144000" cy="6827520"/>
          </a:xfrm>
          <a:prstGeom prst="rect">
            <a:avLst/>
          </a:prstGeom>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514600"/>
          </a:xfrm>
        </p:spPr>
        <p:txBody>
          <a:bodyPr>
            <a:normAutofit lnSpcReduction="10000"/>
          </a:bodyPr>
          <a:lstStyle/>
          <a:p>
            <a:pPr>
              <a:buNone/>
            </a:pPr>
            <a:r>
              <a:rPr lang="en-IN" dirty="0">
                <a:latin typeface="Arial Black" pitchFamily="34" charset="0"/>
              </a:rPr>
              <a:t>I REQUEST TO GO THROUGH THE WEBSITE </a:t>
            </a:r>
            <a:r>
              <a:rPr lang="en-IN" dirty="0" smtClean="0">
                <a:latin typeface="Arial Black" pitchFamily="34" charset="0"/>
                <a:hlinkClick r:id="rId2"/>
              </a:rPr>
              <a:t>www.architpphcup.com</a:t>
            </a:r>
            <a:r>
              <a:rPr lang="en-IN" dirty="0" smtClean="0">
                <a:latin typeface="Arial Black" pitchFamily="34" charset="0"/>
              </a:rPr>
              <a:t> </a:t>
            </a:r>
            <a:r>
              <a:rPr lang="en-IN" dirty="0">
                <a:latin typeface="Arial Black" pitchFamily="34" charset="0"/>
              </a:rPr>
              <a:t>THE PICTORIAL JOURNEY, PROJECT ,PROOF  OF CONCEPT AND EXPERT’S ENDORSEMENT.</a:t>
            </a:r>
          </a:p>
          <a:p>
            <a:endParaRPr lang="en-IN"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_lAST.jpg"/>
          <p:cNvPicPr>
            <a:picLocks noChangeAspect="1"/>
          </p:cNvPicPr>
          <p:nvPr/>
        </p:nvPicPr>
        <p:blipFill>
          <a:blip r:embed="rId2" cstate="print"/>
          <a:stretch>
            <a:fillRect/>
          </a:stretch>
        </p:blipFill>
        <p:spPr>
          <a:xfrm>
            <a:off x="0" y="-45720"/>
            <a:ext cx="9144000" cy="682752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38399"/>
            <a:ext cx="8229600" cy="1600201"/>
          </a:xfrm>
        </p:spPr>
        <p:txBody>
          <a:bodyPr/>
          <a:lstStyle/>
          <a:p>
            <a:pPr algn="ctr">
              <a:buNone/>
            </a:pPr>
            <a:r>
              <a:rPr lang="en-IN" sz="6600" dirty="0">
                <a:latin typeface="Arial Black" pitchFamily="34" charset="0"/>
              </a:rPr>
              <a:t>THANK</a:t>
            </a:r>
            <a:r>
              <a:rPr lang="en-IN" dirty="0">
                <a:latin typeface="Arial Black" pitchFamily="34" charset="0"/>
              </a:rPr>
              <a:t> </a:t>
            </a:r>
            <a:r>
              <a:rPr lang="en-IN" sz="6600" dirty="0">
                <a:latin typeface="Arial Black" pitchFamily="34" charset="0"/>
              </a:rPr>
              <a:t>YOU</a:t>
            </a:r>
            <a:endParaRPr lang="en-IN" dirty="0">
              <a:latin typeface="Arial Black" pitchFamily="34" charset="0"/>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9.jpg"/>
          <p:cNvPicPr>
            <a:picLocks noChangeAspect="1"/>
          </p:cNvPicPr>
          <p:nvPr/>
        </p:nvPicPr>
        <p:blipFill>
          <a:blip r:embed="rId2" cstate="print"/>
          <a:stretch>
            <a:fillRect/>
          </a:stretch>
        </p:blipFill>
        <p:spPr>
          <a:xfrm>
            <a:off x="0" y="15240"/>
            <a:ext cx="9144000" cy="6827520"/>
          </a:xfrm>
          <a:prstGeom prst="rect">
            <a:avLst/>
          </a:prstGeom>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429</TotalTime>
  <Words>208</Words>
  <Application>Microsoft Office PowerPoint</Application>
  <PresentationFormat>On-screen Show (4:3)</PresentationFormat>
  <Paragraphs>21</Paragraphs>
  <Slides>29</Slides>
  <Notes>2</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Slide 1</vt:lpstr>
      <vt:lpstr>Slide 2</vt:lpstr>
      <vt:lpstr>Slide 3</vt:lpstr>
      <vt:lpstr>       EMPEROR SHAHAJAN MADE TAJ MAHAJ IN THE MEMORY OF HIS BELOVED WIFE MUMTAZ, WHO IRONICALLY DIED OF PPH DURING HER 14TH CHILDBIRTH IN 1630. WE ALSO LOST BELOVED ACTRESS SMITA PATIL IN MODERN ERA DUE TO PPH.  </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Archit</cp:lastModifiedBy>
  <cp:revision>62</cp:revision>
  <cp:lastPrinted>2020-08-17T07:31:13Z</cp:lastPrinted>
  <dcterms:created xsi:type="dcterms:W3CDTF">2018-10-29T02:59:27Z</dcterms:created>
  <dcterms:modified xsi:type="dcterms:W3CDTF">2020-12-07T13:24:12Z</dcterms:modified>
</cp:coreProperties>
</file>